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914400"/>
            <a:ext cx="4572000" cy="4572000"/>
          </a:xfrm>
          <a:prstGeom prst="ellipse">
            <a:avLst/>
          </a:prstGeom>
          <a:solidFill>
            <a:srgbClr val="0A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840480"/>
            <a:ext cx="3474720" cy="3474720"/>
          </a:xfrm>
          <a:prstGeom prst="ellipse">
            <a:avLst/>
          </a:prstGeom>
          <a:solidFill>
            <a:srgbClr val="08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292608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HEALTHCARE RECORD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Meditalk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FBF1"/>
                </a:solidFill>
                <a:latin typeface="Segoe UI"/>
              </a:rPr>
              <a:t>Smart Medication Schedules, Prescription OCR &amp; Clinical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2423160" cy="411480"/>
          </a:xfrm>
          <a:prstGeom prst="roundRect">
            <a:avLst/>
          </a:prstGeom>
          <a:solidFill>
            <a:srgbClr val="0E343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82112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  Real-Time Dose Alarms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108960"/>
            <a:ext cx="2423160" cy="411480"/>
          </a:xfrm>
          <a:prstGeom prst="roundRect">
            <a:avLst/>
          </a:prstGeom>
          <a:solidFill>
            <a:srgbClr val="0E343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182112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  Prescription OCR Scanner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108960"/>
            <a:ext cx="2423160" cy="411480"/>
          </a:xfrm>
          <a:prstGeom prst="roundRect">
            <a:avLst/>
          </a:prstGeom>
          <a:solidFill>
            <a:srgbClr val="0E34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182112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  Doctor-Ready PDF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108960"/>
            <a:ext cx="2423160" cy="411480"/>
          </a:xfrm>
          <a:prstGeom prst="roundRect">
            <a:avLst/>
          </a:prstGeom>
          <a:solidFill>
            <a:srgbClr val="0E34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182112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  Human Verification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10698480" cy="2194560"/>
          </a:xfrm>
          <a:prstGeom prst="roundRect">
            <a:avLst/>
          </a:prstGeom>
          <a:solidFill>
            <a:srgbClr val="0E343A"/>
          </a:solidFill>
          <a:ln w="19050">
            <a:solidFill>
              <a:srgbClr val="1B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CFBF1"/>
                </a:solidFill>
                <a:latin typeface="Segoe UI"/>
              </a:rPr>
              <a:t>PROJECT TEAM MEMBERS &amp; PRESENTERS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572000"/>
            <a:ext cx="3291840" cy="1325880"/>
          </a:xfrm>
          <a:prstGeom prst="roundRect">
            <a:avLst/>
          </a:prstGeom>
          <a:solidFill>
            <a:srgbClr val="07252A"/>
          </a:solidFill>
          <a:ln w="12700">
            <a:solidFill>
              <a:srgbClr val="1B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475488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470916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MD Shakib Ahmed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CCFBF1"/>
                </a:solidFill>
                <a:latin typeface="Segoe UI"/>
              </a:rPr>
              <a:t>ID: 0112230862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Full-Stack Architecture &amp; Lead Dev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4572000"/>
            <a:ext cx="3291840" cy="1325880"/>
          </a:xfrm>
          <a:prstGeom prst="roundRect">
            <a:avLst/>
          </a:prstGeom>
          <a:solidFill>
            <a:srgbClr val="07252A"/>
          </a:solidFill>
          <a:ln w="12700">
            <a:solidFill>
              <a:srgbClr val="1B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09160" y="47548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70916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Tarek Rahman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CCFBF1"/>
                </a:solidFill>
                <a:latin typeface="Segoe UI"/>
              </a:rPr>
              <a:t>ID: 01111111111111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Backend Security &amp; PDF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572000"/>
            <a:ext cx="3291840" cy="1325880"/>
          </a:xfrm>
          <a:prstGeom prst="roundRect">
            <a:avLst/>
          </a:prstGeom>
          <a:solidFill>
            <a:srgbClr val="07252A"/>
          </a:solidFill>
          <a:ln w="12700">
            <a:solidFill>
              <a:srgbClr val="1B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0" y="475488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470916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Mayesha Islam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CCFBF1"/>
                </a:solidFill>
                <a:latin typeface="Segoe UI"/>
              </a:rPr>
              <a:t>ID: 0122222222222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Mobile UI/UX &amp; OCR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Bridging the Everyday Healthcare Adherence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The Healthcare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2816" y="1664208"/>
            <a:ext cx="1426464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42816" y="1700784"/>
            <a:ext cx="14264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70916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High Medication Non-Adherence: </a:t>
            </a:r>
            <a:r>
              <a:rPr sz="1250">
                <a:solidFill>
                  <a:srgbClr val="475569"/>
                </a:solidFill>
                <a:latin typeface="Segoe UI"/>
              </a:rPr>
              <a:t>Over 50% of patients forget prescribed doses or take them with incorrect meal timing.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Lost Paper Prescriptions: </a:t>
            </a:r>
            <a:r>
              <a:rPr sz="1250">
                <a:solidFill>
                  <a:srgbClr val="475569"/>
                </a:solidFill>
                <a:latin typeface="Segoe UI"/>
              </a:rPr>
              <a:t>Physical prescription slips get misplaced, damaged, or become unreadable over time.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Scattered Medical Records: </a:t>
            </a:r>
            <a:r>
              <a:rPr sz="1250">
                <a:solidFill>
                  <a:srgbClr val="475569"/>
                </a:solidFill>
                <a:latin typeface="Segoe UI"/>
              </a:rPr>
              <a:t>Lab reports, diagnostic tests, and doctor notes remain disconnected across physical folders.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Rushed Consultations: </a:t>
            </a:r>
            <a:r>
              <a:rPr sz="1250">
                <a:solidFill>
                  <a:srgbClr val="475569"/>
                </a:solidFill>
                <a:latin typeface="Segoe UI"/>
              </a:rPr>
              <a:t>Doctors lack a structured, comprehensive medical history during acute consultations.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6420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The Meditalk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1432" y="1664208"/>
            <a:ext cx="2029968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1700784"/>
            <a:ext cx="2029968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MEDITALK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21408"/>
            <a:ext cx="470916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Smart Daily Schedule: </a:t>
            </a:r>
            <a:r>
              <a:rPr sz="1250">
                <a:solidFill>
                  <a:srgbClr val="475569"/>
                </a:solidFill>
                <a:latin typeface="Segoe UI"/>
              </a:rPr>
              <a:t>Automated alarm slots with clear Before/After meal dietary guidance.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AI-Assisted OCR Digitization: </a:t>
            </a:r>
            <a:r>
              <a:rPr sz="1250">
                <a:solidFill>
                  <a:srgbClr val="475569"/>
                </a:solidFill>
                <a:latin typeface="Segoe UI"/>
              </a:rPr>
              <a:t>Instant camera capture converts prescriptions into structured schedules in seconds.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Human Verification Gate: </a:t>
            </a:r>
            <a:r>
              <a:rPr sz="1250">
                <a:solidFill>
                  <a:srgbClr val="475569"/>
                </a:solidFill>
                <a:latin typeface="Segoe UI"/>
              </a:rPr>
              <a:t>Mandatory patient review ensures 100% accuracy before committing to the database.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Doctor-Ready PDF Export: </a:t>
            </a:r>
            <a:r>
              <a:rPr sz="1250">
                <a:solidFill>
                  <a:srgbClr val="475569"/>
                </a:solidFill>
                <a:latin typeface="Segoe UI"/>
              </a:rPr>
              <a:t>One-click standardized clinical summary ready for doctor appointments.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Decoupled 3-Tier Client-Server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0233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1. Client Layer
Cross-Platform Mobile &amp;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97180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Engine: </a:t>
            </a:r>
            <a:r>
              <a:rPr sz="1250">
                <a:solidFill>
                  <a:srgbClr val="475569"/>
                </a:solidFill>
                <a:latin typeface="Segoe UI"/>
              </a:rPr>
              <a:t>React Native (Expo SDK 57)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Language: </a:t>
            </a:r>
            <a:r>
              <a:rPr sz="1250">
                <a:solidFill>
                  <a:srgbClr val="475569"/>
                </a:solidFill>
                <a:latin typeface="Segoe UI"/>
              </a:rPr>
              <a:t>TypeScript &amp; JSX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Navigation: </a:t>
            </a:r>
            <a:r>
              <a:rPr sz="1250">
                <a:solidFill>
                  <a:srgbClr val="475569"/>
                </a:solidFill>
                <a:latin typeface="Segoe UI"/>
              </a:rPr>
              <a:t>Expo Router (File-based)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State Management: </a:t>
            </a:r>
            <a:r>
              <a:rPr sz="1250">
                <a:solidFill>
                  <a:srgbClr val="475569"/>
                </a:solidFill>
                <a:latin typeface="Segoe UI"/>
              </a:rPr>
              <a:t>Zustand reactive store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Networking: </a:t>
            </a:r>
            <a:r>
              <a:rPr sz="1250">
                <a:solidFill>
                  <a:srgbClr val="475569"/>
                </a:solidFill>
                <a:latin typeface="Segoe UI"/>
              </a:rPr>
              <a:t>Axios with dynamic LAN interceptor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29000" cy="4023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642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2. Service &amp; Gateway Layer
Enterprise Spring Boot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121408"/>
            <a:ext cx="297180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Framework: </a:t>
            </a:r>
            <a:r>
              <a:rPr sz="1250">
                <a:solidFill>
                  <a:srgbClr val="475569"/>
                </a:solidFill>
                <a:latin typeface="Segoe UI"/>
              </a:rPr>
              <a:t>Spring Boot 3.3.5 / Java 26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Security: </a:t>
            </a:r>
            <a:r>
              <a:rPr sz="1250">
                <a:solidFill>
                  <a:srgbClr val="475569"/>
                </a:solidFill>
                <a:latin typeface="Segoe UI"/>
              </a:rPr>
              <a:t>Spring Security 6 + JJWT Tokens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OCR Engine: </a:t>
            </a:r>
            <a:r>
              <a:rPr sz="1250">
                <a:solidFill>
                  <a:srgbClr val="475569"/>
                </a:solidFill>
                <a:latin typeface="Segoe UI"/>
              </a:rPr>
              <a:t>Rule-based regex NLP parser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Document Engine: </a:t>
            </a:r>
            <a:r>
              <a:rPr sz="1250">
                <a:solidFill>
                  <a:srgbClr val="475569"/>
                </a:solidFill>
                <a:latin typeface="Segoe UI"/>
              </a:rPr>
              <a:t>OpenPDF 2.0.3 clinical compiler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File Storage: </a:t>
            </a:r>
            <a:r>
              <a:rPr sz="1250">
                <a:solidFill>
                  <a:srgbClr val="475569"/>
                </a:solidFill>
                <a:latin typeface="Segoe UI"/>
              </a:rPr>
              <a:t>Multipart local document 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463040"/>
            <a:ext cx="3429000" cy="40233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16642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3. Persistence Layer
Relational Database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2121408"/>
            <a:ext cx="297180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Database: </a:t>
            </a:r>
            <a:r>
              <a:rPr sz="1250">
                <a:solidFill>
                  <a:srgbClr val="475569"/>
                </a:solidFill>
                <a:latin typeface="Segoe UI"/>
              </a:rPr>
              <a:t>MySQL 8.0 / MariaDB (XAMPP)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ORM: </a:t>
            </a:r>
            <a:r>
              <a:rPr sz="1250">
                <a:solidFill>
                  <a:srgbClr val="475569"/>
                </a:solidFill>
                <a:latin typeface="Segoe UI"/>
              </a:rPr>
              <a:t>Spring Data JPA / Hibernate 6.5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Connection Pool: </a:t>
            </a:r>
            <a:r>
              <a:rPr sz="1250">
                <a:solidFill>
                  <a:srgbClr val="475569"/>
                </a:solidFill>
                <a:latin typeface="Segoe UI"/>
              </a:rPr>
              <a:t>HikariCP high-throughput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Entities: </a:t>
            </a:r>
            <a:r>
              <a:rPr sz="1250">
                <a:solidFill>
                  <a:srgbClr val="475569"/>
                </a:solidFill>
                <a:latin typeface="Segoe UI"/>
              </a:rPr>
              <a:t>Users, Doctors, Prescriptions, Medicines, Schedules, Logs,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698480" cy="685800"/>
          </a:xfrm>
          <a:prstGeom prst="roundRect">
            <a:avLst/>
          </a:prstGeom>
          <a:solidFill>
            <a:srgbClr val="071E22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15584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🔒  Security Protocol: Stateless JWT Bearer Authentication • BCrypt 12-Round Hashing • Strict User Isolation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6 Pillars of the Meditalk Healthcare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1848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Smart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618488"/>
            <a:ext cx="521207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0712" y="1655064"/>
            <a:ext cx="521207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29718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Real-time daily adherence ring (Taken / Missed / Skipped)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Prominent upcoming medication alert banner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1-tap dose action controls (Take / Skip)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61848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Prescription 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0024" y="1618488"/>
            <a:ext cx="521207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0024" y="1655064"/>
            <a:ext cx="521207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075688"/>
            <a:ext cx="29718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Camera capture and photo gallery upload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NLP regex tokenization for medicines, dosages &amp; frequencies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Human verification gate before saving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41732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61848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Medicine Catalog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89336" y="1618488"/>
            <a:ext cx="521207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89336" y="1655064"/>
            <a:ext cx="521207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75688"/>
            <a:ext cx="29718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Multi-time daily schedule reminders (e.g. 08: </a:t>
            </a:r>
            <a:r>
              <a:rPr sz="1250">
                <a:solidFill>
                  <a:srgbClr val="475569"/>
                </a:solidFill>
                <a:latin typeface="Segoe UI"/>
              </a:rPr>
              <a:t>00 AM, 02:00 PM)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Food guidance tags (Before Meal, After Meal, With Food)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Status toggle (Active / Completed) and safe deletion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862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8736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Medical Timeline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0712" y="4087368"/>
            <a:ext cx="521207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4123944"/>
            <a:ext cx="521207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44568"/>
            <a:ext cx="29718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Unified chronological stream of all patient healthcare events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Diagnostic lab report archival with findings &amp; doctor notes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Multi-category filtering (Prescriptions, Reports, Meds)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8862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408736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Clinical PDF Export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0024" y="4087368"/>
            <a:ext cx="521207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0024" y="4123944"/>
            <a:ext cx="521207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544568"/>
            <a:ext cx="29718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Standardized doctor-ready medical summary compiled via OpenPDF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Customizable export sections (Profile, Meds, Rx, Reports)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Instant browser streaming &amp; native document sharing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38862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408736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Security &amp; Profiles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89336" y="4087368"/>
            <a:ext cx="521207" cy="292608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89336" y="4123944"/>
            <a:ext cx="521207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544568"/>
            <a:ext cx="29718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Stateless JWT authentication with 24-hour token validity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Demographics, blood group, allergies &amp; chronic condition tracking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475569"/>
                </a:solidFill>
                <a:latin typeface="Segoe UI"/>
              </a:rPr>
              <a:t>• One-click demo credentials and automatic data seeding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FEATURE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Smart Dashboard &amp; Daily Adherence Engine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834640" cy="50381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86200" y="1371600"/>
            <a:ext cx="75438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572768"/>
            <a:ext cx="7086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Dynamic Adherence Percentage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0848" y="1572768"/>
            <a:ext cx="2130552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70848" y="1609344"/>
            <a:ext cx="21305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CALCULATION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29967"/>
            <a:ext cx="7086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Real-Time Formula: </a:t>
            </a:r>
            <a:r>
              <a:rPr sz="1250">
                <a:solidFill>
                  <a:srgbClr val="475569"/>
                </a:solidFill>
                <a:latin typeface="Segoe UI"/>
              </a:rPr>
              <a:t>Calculated on-demand as (Taken Doses / Total Scheduled Doses) * 100.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Visual Status Ring: </a:t>
            </a:r>
            <a:r>
              <a:rPr sz="1250">
                <a:solidFill>
                  <a:srgbClr val="475569"/>
                </a:solidFill>
                <a:latin typeface="Segoe UI"/>
              </a:rPr>
              <a:t>Dynamic circular progress chart providing immediate visual reinforcement.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Categorized Breakdown: </a:t>
            </a:r>
            <a:r>
              <a:rPr sz="1250">
                <a:solidFill>
                  <a:srgbClr val="475569"/>
                </a:solidFill>
                <a:latin typeface="Segoe UI"/>
              </a:rPr>
              <a:t>Tracks Taken (Green), Missed (Red), and Skipped (Amber) dose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3063240"/>
            <a:ext cx="75438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264408"/>
            <a:ext cx="7086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Interactive Dose Intake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73184" y="3264408"/>
            <a:ext cx="1728216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73184" y="3300984"/>
            <a:ext cx="172821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ACTION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21608"/>
            <a:ext cx="7086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1-Tap Action Controls: </a:t>
            </a:r>
            <a:r>
              <a:rPr sz="1250">
                <a:solidFill>
                  <a:srgbClr val="475569"/>
                </a:solidFill>
                <a:latin typeface="Segoe UI"/>
              </a:rPr>
              <a:t>Users log dose status via [Take Medicine] or [Skip Dose] in 1 touch.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Optimistic UI Updates: </a:t>
            </a:r>
            <a:r>
              <a:rPr sz="1250">
                <a:solidFill>
                  <a:srgbClr val="475569"/>
                </a:solidFill>
                <a:latin typeface="Segoe UI"/>
              </a:rPr>
              <a:t>Immediate local state response via Zustand with background REST synchronization.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Meal-Timing Context: </a:t>
            </a:r>
            <a:r>
              <a:rPr sz="1250">
                <a:solidFill>
                  <a:srgbClr val="475569"/>
                </a:solidFill>
                <a:latin typeface="Segoe UI"/>
              </a:rPr>
              <a:t>Displays dietary tags (e.g. 'After Lunch', 'Before Breakfast') directly on the card.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4754880"/>
            <a:ext cx="7543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4956048"/>
            <a:ext cx="7086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Quick Action Workflow 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3184" y="4956048"/>
            <a:ext cx="1728216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3184" y="4992624"/>
            <a:ext cx="172821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1-TOUCH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413248"/>
            <a:ext cx="7086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Add Med: </a:t>
            </a:r>
            <a:r>
              <a:rPr sz="1250">
                <a:solidFill>
                  <a:srgbClr val="475569"/>
                </a:solidFill>
                <a:latin typeface="Segoe UI"/>
              </a:rPr>
              <a:t>Manual entry dialog for custom prescription creation.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Scan Rx: </a:t>
            </a:r>
            <a:r>
              <a:rPr sz="1250">
                <a:solidFill>
                  <a:srgbClr val="475569"/>
                </a:solidFill>
                <a:latin typeface="Segoe UI"/>
              </a:rPr>
              <a:t>1-click launcher for the OCR camera digitization pipeline.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Add Report: </a:t>
            </a:r>
            <a:r>
              <a:rPr sz="1250">
                <a:solidFill>
                  <a:srgbClr val="475569"/>
                </a:solidFill>
                <a:latin typeface="Segoe UI"/>
              </a:rPr>
              <a:t>Instant upload interface for diagnostic test files and doctor findings.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FEATURE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Prescription OCR Pipeline &amp; Verification Gate</a:t>
            </a:r>
          </a:p>
        </p:txBody>
      </p:sp>
      <p:pic>
        <p:nvPicPr>
          <p:cNvPr id="4" name="Picture 3" descr="o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834640" cy="50381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86200" y="1371600"/>
            <a:ext cx="754380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069080" y="160020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80" y="169164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99616"/>
            <a:ext cx="6492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Step 1: Document Capture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Patient captures physical prescription via Camera or selects image from Gallery using expo-image-picker.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606040"/>
            <a:ext cx="754380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69080" y="283464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92608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34056"/>
            <a:ext cx="6492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Step 2: NLP Tokenization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Server-side regex parser extracts drug brand names, dosages (500mg), frequency patterns (1+0+1, 2x daily), and durations.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3840480"/>
            <a:ext cx="754380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80" y="406908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416052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968496"/>
            <a:ext cx="6492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Step 3: Human Verification Gate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Crucial Safety Layer: Extracted items are displayed on an interactive review screen where the patient can edit/correct every field.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5074920"/>
            <a:ext cx="754380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69080" y="53035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539496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202936"/>
            <a:ext cx="6492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Step 4: Schedule Generation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Upon confirmation, automatically creates database entities for Medicine and daily MedicineSchedule alarm slots.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FEATURE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Medical History &amp; Chronological Timeline</a:t>
            </a:r>
          </a:p>
        </p:txBody>
      </p:sp>
      <p:pic>
        <p:nvPicPr>
          <p:cNvPr id="4" name="Picture 3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834640" cy="50381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86200" y="1371600"/>
            <a:ext cx="7543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572768"/>
            <a:ext cx="7086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Unified Chronological Health Stream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572768"/>
            <a:ext cx="2331720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609344"/>
            <a:ext cx="23317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CHRONOLOGICAL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29967"/>
            <a:ext cx="70866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All Healthcare Records in One Stream: </a:t>
            </a:r>
            <a:r>
              <a:rPr sz="1250">
                <a:solidFill>
                  <a:srgbClr val="475569"/>
                </a:solidFill>
                <a:latin typeface="Segoe UI"/>
              </a:rPr>
              <a:t>Integrates doctor prescriptions, diagnostic lab reports, clinical consultations, and completed medication cycles.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Visual Timeline Architecture: </a:t>
            </a:r>
            <a:r>
              <a:rPr sz="1250">
                <a:solidFill>
                  <a:srgbClr val="475569"/>
                </a:solidFill>
                <a:latin typeface="Segoe UI"/>
              </a:rPr>
              <a:t>Grouped by date with color-coded category bullets and connecting vertical flow lines.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Multi-Filter Tabs: </a:t>
            </a:r>
            <a:r>
              <a:rPr sz="1250">
                <a:solidFill>
                  <a:srgbClr val="475569"/>
                </a:solidFill>
                <a:latin typeface="Segoe UI"/>
              </a:rPr>
              <a:t>Instant switching between [All Records], [Prescriptions], [Lab Reports], and [Medicines].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Real-Time Search: </a:t>
            </a:r>
            <a:r>
              <a:rPr sz="1250">
                <a:solidFill>
                  <a:srgbClr val="475569"/>
                </a:solidFill>
                <a:latin typeface="Segoe UI"/>
              </a:rPr>
              <a:t>Full-text search across doctor names, test titles, and medication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3840480"/>
            <a:ext cx="7543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041648"/>
            <a:ext cx="7086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Diagnostic Lab Report Archival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4041648"/>
            <a:ext cx="182880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4078224"/>
            <a:ext cx="1828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REPORT ARCHIVAL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498848"/>
            <a:ext cx="7086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Structured Metadata: </a:t>
            </a:r>
            <a:r>
              <a:rPr sz="1250">
                <a:solidFill>
                  <a:srgbClr val="475569"/>
                </a:solidFill>
                <a:latin typeface="Segoe UI"/>
              </a:rPr>
              <a:t>Stores Report Title, Diagnostic Lab/Hospital, Ordering Physician, and Test Findings.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Document Storage: </a:t>
            </a:r>
            <a:r>
              <a:rPr sz="1250">
                <a:solidFill>
                  <a:srgbClr val="475569"/>
                </a:solidFill>
                <a:latin typeface="Segoe UI"/>
              </a:rPr>
              <a:t>Multipart file attachment support for PDF reports and high-resolution imaging scans (X-Rays, MRIs).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Clinical Safety Boundary: </a:t>
            </a:r>
            <a:r>
              <a:rPr sz="1250">
                <a:solidFill>
                  <a:srgbClr val="475569"/>
                </a:solidFill>
                <a:latin typeface="Segoe UI"/>
              </a:rPr>
              <a:t>Organizes patient-provided records; does not generate diagnostic conclusions without physician oversight.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FEATURE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Doctor-Ready Clinical PDF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1848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1. Server-Side OpenPDF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18488"/>
            <a:ext cx="132588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655064"/>
            <a:ext cx="13258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PDF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8006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Engine: </a:t>
            </a:r>
            <a:r>
              <a:rPr sz="1250">
                <a:solidFill>
                  <a:srgbClr val="475569"/>
                </a:solidFill>
                <a:latin typeface="Segoe UI"/>
              </a:rPr>
              <a:t>OpenPDF 2.0.3 Java document compiler.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Vector Tables &amp; Formatting: </a:t>
            </a:r>
            <a:r>
              <a:rPr sz="1250">
                <a:solidFill>
                  <a:srgbClr val="475569"/>
                </a:solidFill>
                <a:latin typeface="Segoe UI"/>
              </a:rPr>
              <a:t>Clean clinical layout with customized header styling, zebra tables, and metadata bars.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Zero Frontend Heavy Lifting: </a:t>
            </a:r>
            <a:r>
              <a:rPr sz="1250">
                <a:solidFill>
                  <a:srgbClr val="475569"/>
                </a:solidFill>
                <a:latin typeface="Segoe UI"/>
              </a:rPr>
              <a:t>PDF binaries compiled securely on the server and streamed directly as byte arrays.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2. Modular Section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618488"/>
            <a:ext cx="13258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655064"/>
            <a:ext cx="13258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PDF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75688"/>
            <a:ext cx="48006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Patient Demographics: </a:t>
            </a:r>
            <a:r>
              <a:rPr sz="1250">
                <a:solidFill>
                  <a:srgbClr val="475569"/>
                </a:solidFill>
                <a:latin typeface="Segoe UI"/>
              </a:rPr>
              <a:t>Blood group, known allergies, chronic conditions, and contact details.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Active Medications: </a:t>
            </a:r>
            <a:r>
              <a:rPr sz="1250">
                <a:solidFill>
                  <a:srgbClr val="475569"/>
                </a:solidFill>
                <a:latin typeface="Segoe UI"/>
              </a:rPr>
              <a:t>Dosages, frequencies, schedules, and dietary instructions.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Prescription History: </a:t>
            </a:r>
            <a:r>
              <a:rPr sz="1250">
                <a:solidFill>
                  <a:srgbClr val="475569"/>
                </a:solidFill>
                <a:latin typeface="Segoe UI"/>
              </a:rPr>
              <a:t>Diagnoses, physician names, and original prescribe dates.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Diagnostic Results: </a:t>
            </a:r>
            <a:r>
              <a:rPr sz="1250">
                <a:solidFill>
                  <a:srgbClr val="475569"/>
                </a:solidFill>
                <a:latin typeface="Segoe UI"/>
              </a:rPr>
              <a:t>Lab reports and clinical impressions.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8736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3. Date Range Filtering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087368"/>
            <a:ext cx="132588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123944"/>
            <a:ext cx="13258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PDF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44568"/>
            <a:ext cx="48006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All-Time History: </a:t>
            </a:r>
            <a:r>
              <a:rPr sz="1250">
                <a:solidFill>
                  <a:srgbClr val="475569"/>
                </a:solidFill>
                <a:latin typeface="Segoe UI"/>
              </a:rPr>
              <a:t>Complete lifelong record for new primary care physicians.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Last 30 Days: </a:t>
            </a:r>
            <a:r>
              <a:rPr sz="1250">
                <a:solidFill>
                  <a:srgbClr val="475569"/>
                </a:solidFill>
                <a:latin typeface="Segoe UI"/>
              </a:rPr>
              <a:t>Focused view for recent acute illness follow-ups.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Last 90 Days: </a:t>
            </a:r>
            <a:r>
              <a:rPr sz="1250">
                <a:solidFill>
                  <a:srgbClr val="475569"/>
                </a:solidFill>
                <a:latin typeface="Segoe UI"/>
              </a:rPr>
              <a:t>Standard quarterly consultation summary.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Past 1 Year: </a:t>
            </a:r>
            <a:r>
              <a:rPr sz="1250">
                <a:solidFill>
                  <a:srgbClr val="475569"/>
                </a:solidFill>
                <a:latin typeface="Segoe UI"/>
              </a:rPr>
              <a:t>Annual physical checkup report.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8620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8736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4. Instant Sharing &amp;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4087368"/>
            <a:ext cx="132588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4123944"/>
            <a:ext cx="13258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PDF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44568"/>
            <a:ext cx="48006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Web Browser: </a:t>
            </a:r>
            <a:r>
              <a:rPr sz="1250">
                <a:solidFill>
                  <a:srgbClr val="475569"/>
                </a:solidFill>
                <a:latin typeface="Segoe UI"/>
              </a:rPr>
              <a:t>One-click direct blob download.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Mobile (iOS &amp; Android): </a:t>
            </a:r>
            <a:r>
              <a:rPr sz="1250">
                <a:solidFill>
                  <a:srgbClr val="475569"/>
                </a:solidFill>
                <a:latin typeface="Segoe UI"/>
              </a:rPr>
              <a:t>Native document sharing intent via Expo Sharing API.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Print-Ready Format: </a:t>
            </a:r>
            <a:r>
              <a:rPr sz="1250">
                <a:solidFill>
                  <a:srgbClr val="475569"/>
                </a:solidFill>
                <a:latin typeface="Segoe UI"/>
              </a:rPr>
              <a:t>Standardized A4/Letter format ready for physical doctor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Tools &amp; Technologies Specification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606040" cy="48006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18488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Mobile &amp; Web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2148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React Native (0.86.3): </a:t>
            </a:r>
            <a:r>
              <a:rPr sz="1250">
                <a:solidFill>
                  <a:srgbClr val="475569"/>
                </a:solidFill>
                <a:latin typeface="Segoe UI"/>
              </a:rPr>
              <a:t>Cross-platform UI engine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Expo SDK (57.0.20): </a:t>
            </a:r>
            <a:r>
              <a:rPr sz="1250">
                <a:solidFill>
                  <a:srgbClr val="475569"/>
                </a:solidFill>
                <a:latin typeface="Segoe UI"/>
              </a:rPr>
              <a:t>Native bridges &amp; bundling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TypeScript: </a:t>
            </a:r>
            <a:r>
              <a:rPr sz="1250">
                <a:solidFill>
                  <a:srgbClr val="475569"/>
                </a:solidFill>
                <a:latin typeface="Segoe UI"/>
              </a:rPr>
              <a:t>Type safety across 100% of screens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Expo Router (57.0.19): </a:t>
            </a:r>
            <a:r>
              <a:rPr sz="1250">
                <a:solidFill>
                  <a:srgbClr val="475569"/>
                </a:solidFill>
                <a:latin typeface="Segoe UI"/>
              </a:rPr>
              <a:t>File-based navigation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Zustand (5.0.15): </a:t>
            </a:r>
            <a:r>
              <a:rPr sz="1250">
                <a:solidFill>
                  <a:srgbClr val="475569"/>
                </a:solidFill>
                <a:latin typeface="Segoe UI"/>
              </a:rPr>
              <a:t>Reactive lightweight state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Axios (1.20.0): </a:t>
            </a:r>
            <a:r>
              <a:rPr sz="1250">
                <a:solidFill>
                  <a:srgbClr val="475569"/>
                </a:solidFill>
                <a:latin typeface="Segoe UI"/>
              </a:rPr>
              <a:t>REST client with interceptors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Lucide React Native: </a:t>
            </a:r>
            <a:r>
              <a:rPr sz="1250">
                <a:solidFill>
                  <a:srgbClr val="475569"/>
                </a:solidFill>
                <a:latin typeface="Segoe UI"/>
              </a:rPr>
              <a:t>Vector medical icon pack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17320"/>
            <a:ext cx="2606040" cy="4800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618488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Backend &amp; API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2075688"/>
            <a:ext cx="2148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Java 26 / JDK: </a:t>
            </a:r>
            <a:r>
              <a:rPr sz="1250">
                <a:solidFill>
                  <a:srgbClr val="475569"/>
                </a:solidFill>
                <a:latin typeface="Segoe UI"/>
              </a:rPr>
              <a:t>Modern JVM runtime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Spring Boot 3.3.5: </a:t>
            </a:r>
            <a:r>
              <a:rPr sz="1250">
                <a:solidFill>
                  <a:srgbClr val="475569"/>
                </a:solidFill>
                <a:latin typeface="Segoe UI"/>
              </a:rPr>
              <a:t>Enterprise microservices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Spring Security 6: </a:t>
            </a:r>
            <a:r>
              <a:rPr sz="1250">
                <a:solidFill>
                  <a:srgbClr val="475569"/>
                </a:solidFill>
                <a:latin typeface="Segoe UI"/>
              </a:rPr>
              <a:t>Stateless route security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JJWT (0.12.6): </a:t>
            </a:r>
            <a:r>
              <a:rPr sz="1250">
                <a:solidFill>
                  <a:srgbClr val="475569"/>
                </a:solidFill>
                <a:latin typeface="Segoe UI"/>
              </a:rPr>
              <a:t>JSON Web Token crypto sign/verify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Spring Data JPA: </a:t>
            </a:r>
            <a:r>
              <a:rPr sz="1250">
                <a:solidFill>
                  <a:srgbClr val="475569"/>
                </a:solidFill>
                <a:latin typeface="Segoe UI"/>
              </a:rPr>
              <a:t>Object-relational mapping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OpenPDF 2.0.3: </a:t>
            </a:r>
            <a:r>
              <a:rPr sz="1250">
                <a:solidFill>
                  <a:srgbClr val="475569"/>
                </a:solidFill>
                <a:latin typeface="Segoe UI"/>
              </a:rPr>
              <a:t>Server-side PDF rendering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BCrypt: </a:t>
            </a:r>
            <a:r>
              <a:rPr sz="1250">
                <a:solidFill>
                  <a:srgbClr val="475569"/>
                </a:solidFill>
                <a:latin typeface="Segoe UI"/>
              </a:rPr>
              <a:t>12-round password encryption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17320"/>
            <a:ext cx="2606040" cy="4800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618488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Database &amp;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075688"/>
            <a:ext cx="2148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MySQL 8.0: </a:t>
            </a:r>
            <a:r>
              <a:rPr sz="1250">
                <a:solidFill>
                  <a:srgbClr val="475569"/>
                </a:solidFill>
                <a:latin typeface="Segoe UI"/>
              </a:rPr>
              <a:t>Relational data store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XAMPP: </a:t>
            </a:r>
            <a:r>
              <a:rPr sz="1250">
                <a:solidFill>
                  <a:srgbClr val="475569"/>
                </a:solidFill>
                <a:latin typeface="Segoe UI"/>
              </a:rPr>
              <a:t>Local development server environment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Hibernate 6.5: </a:t>
            </a:r>
            <a:r>
              <a:rPr sz="1250">
                <a:solidFill>
                  <a:srgbClr val="475569"/>
                </a:solidFill>
                <a:latin typeface="Segoe UI"/>
              </a:rPr>
              <a:t>Schema auto-migration &amp; DDL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HikariCP: </a:t>
            </a:r>
            <a:r>
              <a:rPr sz="1250">
                <a:solidFill>
                  <a:srgbClr val="475569"/>
                </a:solidFill>
                <a:latin typeface="Segoe UI"/>
              </a:rPr>
              <a:t>High-performance connection pool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Multipart Storage: </a:t>
            </a:r>
            <a:r>
              <a:rPr sz="1250">
                <a:solidFill>
                  <a:srgbClr val="475569"/>
                </a:solidFill>
                <a:latin typeface="Segoe UI"/>
              </a:rPr>
              <a:t>Prescription &amp; report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417320"/>
            <a:ext cx="2606040" cy="48006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4856" y="1618488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Developer Tools &amp;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6" y="2075688"/>
            <a:ext cx="2148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Git &amp; GitHub: </a:t>
            </a:r>
            <a:r>
              <a:rPr sz="1250">
                <a:solidFill>
                  <a:srgbClr val="475569"/>
                </a:solidFill>
                <a:latin typeface="Segoe UI"/>
              </a:rPr>
              <a:t>Distributed version control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Maven Wrapper (mvnw): </a:t>
            </a:r>
            <a:r>
              <a:rPr sz="1250">
                <a:solidFill>
                  <a:srgbClr val="475569"/>
                </a:solidFill>
                <a:latin typeface="Segoe UI"/>
              </a:rPr>
              <a:t>Backend build pipeline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npm &amp; npx: </a:t>
            </a:r>
            <a:r>
              <a:rPr sz="1250">
                <a:solidFill>
                  <a:srgbClr val="475569"/>
                </a:solidFill>
                <a:latin typeface="Segoe UI"/>
              </a:rPr>
              <a:t>Node package manager &amp; Expo runner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ReportLab &amp; python-pptx: </a:t>
            </a:r>
            <a:r>
              <a:rPr sz="1250">
                <a:solidFill>
                  <a:srgbClr val="475569"/>
                </a:solidFill>
                <a:latin typeface="Segoe UI"/>
              </a:rPr>
              <a:t>Document tooling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GIT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Git Workflow, Repository Structure &amp; Commit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6636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1848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Repository Architecture &amp; Organization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41648" y="1618488"/>
            <a:ext cx="1627631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41648" y="1655064"/>
            <a:ext cx="1627631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MONOREPO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GitHub Repository: </a:t>
            </a:r>
            <a:r>
              <a:rPr sz="1250">
                <a:solidFill>
                  <a:srgbClr val="475569"/>
                </a:solidFill>
                <a:latin typeface="Segoe UI"/>
              </a:rPr>
              <a:t>https://github.com/shakibthe69/meditalk-app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Decoupled Monorepo Structure: </a:t>
            </a:r>
            <a:r>
              <a:rPr sz="1250">
                <a:solidFill>
                  <a:srgbClr val="475569"/>
                </a:solidFill>
                <a:latin typeface="Segoe UI"/>
              </a:rPr>
              <a:t>Cleanly separates frontend and backend codebases for independent deployment.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Directory: </a:t>
            </a:r>
            <a:r>
              <a:rPr sz="1250">
                <a:solidFill>
                  <a:srgbClr val="475569"/>
                </a:solidFill>
                <a:latin typeface="Segoe UI"/>
              </a:rPr>
              <a:t>/mobile — React Native Expo application with app routes, components, hooks, and stores.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Directory: </a:t>
            </a:r>
            <a:r>
              <a:rPr sz="1250">
                <a:solidFill>
                  <a:srgbClr val="475569"/>
                </a:solidFill>
                <a:latin typeface="Segoe UI"/>
              </a:rPr>
              <a:t>/backend — Spring Boot API with controllers, services, repositories, and entities.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Directory: </a:t>
            </a:r>
            <a:r>
              <a:rPr sz="1250">
                <a:solidFill>
                  <a:srgbClr val="475569"/>
                </a:solidFill>
                <a:latin typeface="Segoe UI"/>
              </a:rPr>
              <a:t>/docs — Technical documentation, presentation decks, and visual assets.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Environment Isolation: </a:t>
            </a:r>
            <a:r>
              <a:rPr sz="1250">
                <a:solidFill>
                  <a:srgbClr val="475569"/>
                </a:solidFill>
                <a:latin typeface="Segoe UI"/>
              </a:rPr>
              <a:t>Independent dependency management via pom.xml and package.json.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1848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Milestone Commits &amp; Version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74936" y="1618488"/>
            <a:ext cx="1426464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74936" y="1655064"/>
            <a:ext cx="14264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GIT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Commit a512466: </a:t>
            </a:r>
            <a:r>
              <a:rPr sz="1250">
                <a:solidFill>
                  <a:srgbClr val="475569"/>
                </a:solidFill>
                <a:latin typeface="Segoe UI"/>
              </a:rPr>
              <a:t>First commit — Initial repository setup and baseline configurations.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Commit 335111d: </a:t>
            </a:r>
            <a:r>
              <a:rPr sz="1250">
                <a:solidFill>
                  <a:srgbClr val="475569"/>
                </a:solidFill>
                <a:latin typeface="Segoe UI"/>
              </a:rPr>
              <a:t>Initial Meditalk project — Database entity models and architectural scaffolding.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Commit c2022e4: </a:t>
            </a:r>
            <a:r>
              <a:rPr sz="1250">
                <a:solidFill>
                  <a:srgbClr val="475569"/>
                </a:solidFill>
                <a:latin typeface="Segoe UI"/>
              </a:rPr>
              <a:t>Add backend &amp; mobile applications — Complete REST endpoints, JWT security, and React Native UI.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Commit 6176ecb: </a:t>
            </a:r>
            <a:r>
              <a:rPr sz="1250">
                <a:solidFill>
                  <a:srgbClr val="475569"/>
                </a:solidFill>
                <a:latin typeface="Segoe UI"/>
              </a:rPr>
              <a:t>Documentation &amp; Presentation — Technical architecture specifications and presentation deck.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15E59"/>
                </a:solidFill>
                <a:latin typeface="Segoe UI"/>
              </a:rPr>
              <a:t>• Branch Strategy: </a:t>
            </a:r>
            <a:r>
              <a:rPr sz="1250">
                <a:solidFill>
                  <a:srgbClr val="475569"/>
                </a:solidFill>
                <a:latin typeface="Segoe UI"/>
              </a:rPr>
              <a:t>Production-stable main branch with clean milestone-driven commit hygiene.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CFBF1"/>
                </a:solidFill>
                <a:latin typeface="Segoe UI"/>
              </a:rPr>
              <a:t>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Meditalk Development Team &amp;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0E343A"/>
          </a:solidFill>
          <a:ln w="19050">
            <a:solidFill>
              <a:srgbClr val="1B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MD Shakib Ahmed
ID: 0112230862
Lead Full-Stack Architect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5456" y="1664208"/>
            <a:ext cx="1426464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05456" y="1700784"/>
            <a:ext cx="14264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TEAM 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97180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Spring Boot REST API architecture &amp; entity modeling.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React Native dashboard &amp; adherence ring UI implementation.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Zustand state store &amp; dynamic Axios client configuration.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System integration, database schemas &amp; project leadership.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63040"/>
            <a:ext cx="3429000" cy="4754880"/>
          </a:xfrm>
          <a:prstGeom prst="roundRect">
            <a:avLst/>
          </a:prstGeom>
          <a:solidFill>
            <a:srgbClr val="0E343A"/>
          </a:solidFill>
          <a:ln w="19050">
            <a:solidFill>
              <a:srgbClr val="1B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6642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Tarek Rahman
ID: 01111111111111
Backend Security &amp;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64208"/>
            <a:ext cx="1426464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700784"/>
            <a:ext cx="14264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TEAM 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21408"/>
            <a:ext cx="297180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Spring Security 6 configuration &amp; JWT token filters.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OpenPDF clinical medical summary generation service.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BCrypt password hashing &amp; authentication endpoints.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Backend test verification &amp; database health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463040"/>
            <a:ext cx="3429000" cy="4754880"/>
          </a:xfrm>
          <a:prstGeom prst="roundRect">
            <a:avLst/>
          </a:prstGeom>
          <a:solidFill>
            <a:srgbClr val="0E343A"/>
          </a:solidFill>
          <a:ln w="19050">
            <a:solidFill>
              <a:srgbClr val="1B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6642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Mayesha Islam
ID: 0122222222222
Mobile UI/UX &amp; OCR Engineer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664208"/>
            <a:ext cx="1426464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700784"/>
            <a:ext cx="14264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TEAM 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121408"/>
            <a:ext cx="297180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Prescription OCR capture UI &amp; human review modal.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Medical history timeline screens &amp; category filters.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Diagnostic lab report upload interface &amp; styling.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>
                <a:solidFill>
                  <a:srgbClr val="D1D5DB"/>
                </a:solidFill>
                <a:latin typeface="Segoe UI"/>
              </a:rPr>
              <a:t>• Responsive mobile components &amp; cross-platform UX.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914400"/>
            <a:ext cx="4846320" cy="4846320"/>
          </a:xfrm>
          <a:prstGeom prst="ellipse">
            <a:avLst/>
          </a:prstGeom>
          <a:solidFill>
            <a:srgbClr val="08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CCFBF1"/>
                </a:solidFill>
                <a:latin typeface="Segoe UI"/>
              </a:rPr>
              <a:t>PRODUCTION READY HEALTHCARE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Better Medication Adherence.
Organized Health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CBD5E1"/>
                </a:solidFill>
                <a:latin typeface="Segoe UI"/>
              </a:rPr>
              <a:t>Meditalk transforms physical prescriptions and scattered lab tests into one calm daily routine and doctor-ready summary.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4114800"/>
            <a:ext cx="36576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427939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▶  START 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CFBF1"/>
                </a:solidFill>
                <a:latin typeface="Segoe UI"/>
              </a:rPr>
              <a:t>Thank You! 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