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E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097280"/>
            <a:ext cx="4754880" cy="4754880"/>
          </a:xfrm>
          <a:prstGeom prst="ellipse">
            <a:avLst/>
          </a:prstGeom>
          <a:solidFill>
            <a:srgbClr val="146D6D"/>
          </a:solidFill>
          <a:ln>
            <a:solidFill>
              <a:srgbClr val="14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389120"/>
            <a:ext cx="3474720" cy="3474720"/>
          </a:xfrm>
          <a:prstGeom prst="ellipse">
            <a:avLst/>
          </a:prstGeom>
          <a:solidFill>
            <a:srgbClr val="0B5155"/>
          </a:solidFill>
          <a:ln>
            <a:solidFill>
              <a:srgbClr val="0B5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DF8F3"/>
                </a:solidFill>
                <a:latin typeface="Aptos Display"/>
              </a:rPr>
              <a:t>MEDITALK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Health records
that move with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4E8E3"/>
                </a:solidFill>
                <a:latin typeface="Aptos Display"/>
              </a:rPr>
              <a:t>A simple, secure companion for prescriptions, reminders, reports, and doctor-ready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2834640" cy="502920"/>
          </a:xfrm>
          <a:prstGeom prst="roundRect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02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PRODUCT PRESENTATION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4E8E3"/>
                </a:solidFill>
                <a:latin typeface="Aptos Display"/>
              </a:rPr>
              <a:t>MD Shakib Ahmed  |  Tarek Rahman  |  Mayesha Islam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5989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DDF8F3"/>
                </a:solidFill>
                <a:latin typeface="Aptos Display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2033"/>
                </a:solidFill>
                <a:latin typeface="Aptos Display"/>
              </a:rPr>
              <a:t>One calm place for a complex health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42415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Meditalk turns scattered medical moments into one clear daily routine.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" y="2212848"/>
            <a:ext cx="530352" cy="530352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35915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22033"/>
                </a:solidFill>
                <a:latin typeface="Aptos Display"/>
              </a:rPr>
              <a:t>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4015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68A"/>
                </a:solidFill>
                <a:latin typeface="Aptos Display"/>
              </a:rPr>
              <a:t>Upcoming doses and simple Take / Skip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2024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9160" y="2212848"/>
            <a:ext cx="530352" cy="530352"/>
          </a:xfrm>
          <a:prstGeom prst="ellipse">
            <a:avLst/>
          </a:prstGeom>
          <a:solidFill>
            <a:srgbClr val="3A72D8"/>
          </a:solidFill>
          <a:ln>
            <a:solidFill>
              <a:srgbClr val="3A7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35915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22033"/>
                </a:solidFill>
                <a:latin typeface="Aptos Display"/>
              </a:rPr>
              <a:t>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4015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68A"/>
                </a:solidFill>
                <a:latin typeface="Aptos Display"/>
              </a:rPr>
              <a:t>Prescriptions, reports, and visits stay searchable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92024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76488" y="2212848"/>
            <a:ext cx="530352" cy="530352"/>
          </a:xfrm>
          <a:prstGeom prst="ellipse">
            <a:avLst/>
          </a:prstGeom>
          <a:solidFill>
            <a:srgbClr val="20B86B"/>
          </a:solidFill>
          <a:ln>
            <a:solidFill>
              <a:srgbClr val="20B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235915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22033"/>
                </a:solidFill>
                <a:latin typeface="Aptos Display"/>
              </a:rPr>
              <a:t>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34015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68A"/>
                </a:solidFill>
                <a:latin typeface="Aptos Display"/>
              </a:rPr>
              <a:t>Export a clean summary for the next doctor visit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6B69"/>
                </a:solidFill>
                <a:latin typeface="Aptos Display"/>
              </a:rPr>
              <a:t>DESIGNED FOR THE MOMENT THAT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663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16B69"/>
                </a:solidFill>
                <a:latin typeface="Aptos Display"/>
              </a:rPr>
              <a:t>When the patient is busy, the prescription is handwritten, and the doctor needs the full 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2033"/>
                </a:solidFill>
                <a:latin typeface="Aptos Display"/>
              </a:rPr>
              <a:t>The dashboard answers: what do I do next?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A glanceable home screen for today's care routine.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3154680" cy="5606951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251960" y="1691640"/>
            <a:ext cx="310896" cy="310896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51960" y="1700784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2584" y="16733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3"/>
                </a:solidFill>
                <a:latin typeface="Aptos Display"/>
              </a:rPr>
              <a:t>Upcoming dose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2029968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The next medication is visible before the user has to search.</a:t>
            </a:r>
          </a:p>
        </p:txBody>
      </p:sp>
      <p:sp>
        <p:nvSpPr>
          <p:cNvPr id="9" name="Oval 8"/>
          <p:cNvSpPr/>
          <p:nvPr/>
        </p:nvSpPr>
        <p:spPr>
          <a:xfrm>
            <a:off x="4251960" y="2743200"/>
            <a:ext cx="310896" cy="310896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2752344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27249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3"/>
                </a:solidFill>
                <a:latin typeface="Aptos Display"/>
              </a:rPr>
              <a:t>Adherence 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081528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Taken, missed, and skipped doses become an immediate signal.</a:t>
            </a:r>
          </a:p>
        </p:txBody>
      </p:sp>
      <p:sp>
        <p:nvSpPr>
          <p:cNvPr id="13" name="Oval 12"/>
          <p:cNvSpPr/>
          <p:nvPr/>
        </p:nvSpPr>
        <p:spPr>
          <a:xfrm>
            <a:off x="4251960" y="3794760"/>
            <a:ext cx="310896" cy="310896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03904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7764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3"/>
                </a:solidFill>
                <a:latin typeface="Aptos Display"/>
              </a:rPr>
              <a:t>Quick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4133087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Add Med, Scan Rx, and Add Report are one tap away.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4983480"/>
            <a:ext cx="6583680" cy="731520"/>
          </a:xfrm>
          <a:prstGeom prst="roundRect">
            <a:avLst/>
          </a:prstGeom>
          <a:solidFill>
            <a:srgbClr val="EFFCF9"/>
          </a:solidFill>
          <a:ln>
            <a:solidFill>
              <a:srgbClr val="DD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518464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6B69"/>
                </a:solidFill>
                <a:latin typeface="Aptos Display"/>
              </a:rPr>
              <a:t>CLICK FLOW  →  Take Medicine  →  adherence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2033"/>
                </a:solidFill>
                <a:latin typeface="Aptos Display"/>
              </a:rPr>
              <a:t>Medication management without the clutter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Search, filter, schedule, and safely remove active treatments.</a:t>
            </a:r>
          </a:p>
        </p:txBody>
      </p:sp>
      <p:pic>
        <p:nvPicPr>
          <p:cNvPr id="4" name="Picture 3" descr="medic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3154680" cy="5606951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251960" y="1783080"/>
            <a:ext cx="310896" cy="310896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51960" y="1792224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2584" y="17647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3"/>
                </a:solidFill>
                <a:latin typeface="Aptos Display"/>
              </a:rPr>
              <a:t>Search +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2121408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Find a medicine by brand or generic name, then narrow by status.</a:t>
            </a:r>
          </a:p>
        </p:txBody>
      </p:sp>
      <p:sp>
        <p:nvSpPr>
          <p:cNvPr id="9" name="Oval 8"/>
          <p:cNvSpPr/>
          <p:nvPr/>
        </p:nvSpPr>
        <p:spPr>
          <a:xfrm>
            <a:off x="4251960" y="2834640"/>
            <a:ext cx="310896" cy="310896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2843784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28163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3"/>
                </a:solidFill>
                <a:latin typeface="Aptos Display"/>
              </a:rPr>
              <a:t>Schedule clarity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172968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Dose, frequency, time, and food instruction sit together.</a:t>
            </a:r>
          </a:p>
        </p:txBody>
      </p:sp>
      <p:sp>
        <p:nvSpPr>
          <p:cNvPr id="13" name="Oval 12"/>
          <p:cNvSpPr/>
          <p:nvPr/>
        </p:nvSpPr>
        <p:spPr>
          <a:xfrm>
            <a:off x="4251960" y="3886200"/>
            <a:ext cx="310896" cy="310896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895344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8679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3"/>
                </a:solidFill>
                <a:latin typeface="Aptos Display"/>
              </a:rPr>
              <a:t>Safe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4224528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Status toggles and delete confirmation reduce accidental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5074920"/>
            <a:ext cx="6583680" cy="731520"/>
          </a:xfrm>
          <a:prstGeom prst="roundRect">
            <a:avLst/>
          </a:prstGeom>
          <a:solidFill>
            <a:srgbClr val="FFF7E8"/>
          </a:solidFill>
          <a:ln>
            <a:solidFill>
              <a:srgbClr val="F9D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527608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A5B06"/>
                </a:solidFill>
                <a:latin typeface="Aptos Display"/>
              </a:rPr>
              <a:t>PATIENT-FIRST DETAIL  |  before / after meal guidance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2033"/>
                </a:solidFill>
                <a:latin typeface="Aptos Display"/>
              </a:rPr>
              <a:t>From prescription photo to verified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OCR accelerates entry; the patient remains in control before anything is saved.</a:t>
            </a:r>
          </a:p>
        </p:txBody>
      </p:sp>
      <p:pic>
        <p:nvPicPr>
          <p:cNvPr id="4" name="Picture 3" descr="o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3154680" cy="5606951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389120" y="1828800"/>
            <a:ext cx="566928" cy="566928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8470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22033"/>
                </a:solidFill>
                <a:latin typeface="Aptos Display"/>
              </a:rP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1762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Camera or gallery 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5152" y="2395728"/>
            <a:ext cx="54864" cy="603504"/>
          </a:xfrm>
          <a:prstGeom prst="rect">
            <a:avLst/>
          </a:prstGeom>
          <a:solidFill>
            <a:srgbClr val="A7E8DE"/>
          </a:solidFill>
          <a:ln>
            <a:solidFill>
              <a:srgbClr val="A7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999232"/>
            <a:ext cx="566928" cy="566928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1821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017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22033"/>
                </a:solidFill>
                <a:latin typeface="Aptos Display"/>
              </a:rPr>
              <a:t>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3467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OCR text and medicine details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5152" y="3566160"/>
            <a:ext cx="54864" cy="603504"/>
          </a:xfrm>
          <a:prstGeom prst="rect">
            <a:avLst/>
          </a:prstGeom>
          <a:solidFill>
            <a:srgbClr val="A7E8DE"/>
          </a:solidFill>
          <a:ln>
            <a:solidFill>
              <a:srgbClr val="A7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89120" y="4169664"/>
            <a:ext cx="566928" cy="566928"/>
          </a:xfrm>
          <a:prstGeom prst="ellipse">
            <a:avLst/>
          </a:prstGeom>
          <a:solidFill>
            <a:srgbClr val="20B86B"/>
          </a:solidFill>
          <a:ln>
            <a:solidFill>
              <a:srgbClr val="20B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352544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1879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22033"/>
                </a:solidFill>
                <a:latin typeface="Aptos Display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5171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Edit before creating reminders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532120"/>
            <a:ext cx="6492240" cy="685800"/>
          </a:xfrm>
          <a:prstGeom prst="roundRect">
            <a:avLst/>
          </a:prstGeom>
          <a:solidFill>
            <a:srgbClr val="EFFCF9"/>
          </a:solidFill>
          <a:ln>
            <a:solidFill>
              <a:srgbClr val="DD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572414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6B69"/>
                </a:solidFill>
                <a:latin typeface="Aptos Display"/>
              </a:rPr>
              <a:t>SAFETY GATE  |  no schedule is committed without confirmation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2033"/>
                </a:solidFill>
                <a:latin typeface="Aptos Display"/>
              </a:rPr>
              <a:t>A health story that is easy to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Timeline records connect treatments, tests, prescriptions, and visits.</a:t>
            </a:r>
          </a:p>
        </p:txBody>
      </p:sp>
      <p:pic>
        <p:nvPicPr>
          <p:cNvPr id="4" name="Picture 3" descr="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3154680" cy="5606951"/>
          </a:xfrm>
          <a:prstGeom prst="rect">
            <a:avLst/>
          </a:prstGeom>
        </p:spPr>
      </p:pic>
      <p:pic>
        <p:nvPicPr>
          <p:cNvPr id="5" name="Picture 4" descr="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234440"/>
            <a:ext cx="3154680" cy="560695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452360" y="1828800"/>
            <a:ext cx="310896" cy="310896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837943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2984" y="18105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3"/>
                </a:solidFill>
                <a:latin typeface="Aptos Display"/>
              </a:rPr>
              <a:t>Filter the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21671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68A"/>
                </a:solidFill>
                <a:latin typeface="Aptos Display"/>
              </a:rPr>
              <a:t>Search by doctor, test, or record type.</a:t>
            </a:r>
          </a:p>
        </p:txBody>
      </p:sp>
      <p:sp>
        <p:nvSpPr>
          <p:cNvPr id="10" name="Oval 9"/>
          <p:cNvSpPr/>
          <p:nvPr/>
        </p:nvSpPr>
        <p:spPr>
          <a:xfrm>
            <a:off x="7452360" y="2971800"/>
            <a:ext cx="310896" cy="310896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2980944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4" y="29535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3"/>
                </a:solidFill>
                <a:latin typeface="Aptos Display"/>
              </a:rPr>
              <a:t>Add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33101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68A"/>
                </a:solidFill>
                <a:latin typeface="Aptos Display"/>
              </a:rPr>
              <a:t>Upload report image or PDF with notes.</a:t>
            </a:r>
          </a:p>
        </p:txBody>
      </p:sp>
      <p:sp>
        <p:nvSpPr>
          <p:cNvPr id="14" name="Oval 13"/>
          <p:cNvSpPr/>
          <p:nvPr/>
        </p:nvSpPr>
        <p:spPr>
          <a:xfrm>
            <a:off x="7452360" y="4114800"/>
            <a:ext cx="310896" cy="310896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4123944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4" y="40965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033"/>
                </a:solidFill>
                <a:latin typeface="Aptos Display"/>
              </a:rPr>
              <a:t>Keep it clinical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4453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68A"/>
                </a:solidFill>
                <a:latin typeface="Aptos Display"/>
              </a:rPr>
              <a:t>Doctor, facility, category, and findings stay attached to the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Ready for the next consultation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4E8E3"/>
                </a:solidFill>
                <a:latin typeface="Aptos Display"/>
              </a:rPr>
              <a:t>Meditalk turns everyday tracking into a doctor-ready summary.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246120" cy="1600200"/>
          </a:xfrm>
          <a:prstGeom prst="roundRect">
            <a:avLst/>
          </a:prstGeom>
          <a:solidFill>
            <a:srgbClr val="164E54"/>
          </a:solidFill>
          <a:ln>
            <a:solidFill>
              <a:srgbClr val="2D6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3246120" cy="128016"/>
          </a:xfrm>
          <a:prstGeom prst="rect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67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9A90"/>
                </a:solidFill>
                <a:latin typeface="Aptos Display"/>
              </a:rPr>
              <a:t>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 Display"/>
              </a:rPr>
              <a:t>React Native + Expo
TypeScript + Zustand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920240"/>
            <a:ext cx="3246120" cy="1600200"/>
          </a:xfrm>
          <a:prstGeom prst="roundRect">
            <a:avLst/>
          </a:prstGeom>
          <a:solidFill>
            <a:srgbClr val="164E54"/>
          </a:solidFill>
          <a:ln>
            <a:solidFill>
              <a:srgbClr val="2D6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920240"/>
            <a:ext cx="3246120" cy="128016"/>
          </a:xfrm>
          <a:prstGeom prst="rect">
            <a:avLst/>
          </a:prstGeom>
          <a:solidFill>
            <a:srgbClr val="3A72D8"/>
          </a:solidFill>
          <a:ln>
            <a:solidFill>
              <a:srgbClr val="3A7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67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72D8"/>
                </a:solidFill>
                <a:latin typeface="Aptos Display"/>
              </a:rPr>
              <a:t>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97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 Display"/>
              </a:rPr>
              <a:t>Spring Boot
JWT + OCR + OpenPDF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920240"/>
            <a:ext cx="3246120" cy="1600200"/>
          </a:xfrm>
          <a:prstGeom prst="roundRect">
            <a:avLst/>
          </a:prstGeom>
          <a:solidFill>
            <a:srgbClr val="164E54"/>
          </a:solidFill>
          <a:ln>
            <a:solidFill>
              <a:srgbClr val="2D6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920240"/>
            <a:ext cx="3246120" cy="128016"/>
          </a:xfrm>
          <a:prstGeom prst="rect">
            <a:avLst/>
          </a:prstGeom>
          <a:solidFill>
            <a:srgbClr val="20B86B"/>
          </a:solidFill>
          <a:ln>
            <a:solidFill>
              <a:srgbClr val="20B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267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0B86B"/>
                </a:solidFill>
                <a:latin typeface="Aptos Display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97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 Display"/>
              </a:rPr>
              <a:t>MySQL + JPA
User-isolated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60520"/>
            <a:ext cx="10835640" cy="960120"/>
          </a:xfrm>
          <a:prstGeom prst="roundRect">
            <a:avLst/>
          </a:prstGeom>
          <a:solidFill>
            <a:srgbClr val="E4F9F5"/>
          </a:solidFill>
          <a:ln>
            <a:solidFill>
              <a:srgbClr val="7E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0740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6B69"/>
                </a:solidFill>
                <a:latin typeface="Aptos Display"/>
              </a:rPr>
              <a:t>PDF EXPORT  →  Profile  +  Active Medicines  +  Prescriptions  +  Lab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4E8E3"/>
                </a:solidFill>
                <a:latin typeface="Aptos Display"/>
              </a:rPr>
              <a:t>Safety boundary: Meditalk organizes records and reminders; it does not replace medical advice.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2033"/>
                </a:solidFill>
                <a:latin typeface="Aptos Display"/>
              </a:rPr>
              <a:t>A simple click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768A"/>
                </a:solidFill>
                <a:latin typeface="Aptos Display"/>
              </a:rPr>
              <a:t>Every primary action has a visible next step and a clear outcome.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011680"/>
            <a:ext cx="960120" cy="960120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5000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2033"/>
                </a:solidFill>
                <a:latin typeface="Aptos Display"/>
              </a:rPr>
              <a:t>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363016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768A"/>
                </a:solidFill>
                <a:latin typeface="Aptos Display"/>
              </a:rPr>
              <a:t>See next dose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2331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AA7B7"/>
                </a:solidFill>
                <a:latin typeface="Aptos Display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611879" y="2011680"/>
            <a:ext cx="960120" cy="960120"/>
          </a:xfrm>
          <a:prstGeom prst="ellipse">
            <a:avLst/>
          </a:prstGeom>
          <a:solidFill>
            <a:srgbClr val="20B86B"/>
          </a:solidFill>
          <a:ln>
            <a:solidFill>
              <a:srgbClr val="20B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235000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8999" y="3246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2033"/>
                </a:solidFill>
                <a:latin typeface="Aptos Display"/>
              </a:rPr>
              <a:t>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63016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768A"/>
                </a:solidFill>
                <a:latin typeface="Aptos Display"/>
              </a:rPr>
              <a:t>Log adherence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331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AA7B7"/>
                </a:solidFill>
                <a:latin typeface="Aptos Display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011680"/>
            <a:ext cx="960120" cy="960120"/>
          </a:xfrm>
          <a:prstGeom prst="ellipse">
            <a:avLst/>
          </a:prstGeom>
          <a:solidFill>
            <a:srgbClr val="3A72D8"/>
          </a:solidFill>
          <a:ln>
            <a:solidFill>
              <a:srgbClr val="3A7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5000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246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2033"/>
                </a:solidFill>
                <a:latin typeface="Aptos Display"/>
              </a:rPr>
              <a:t>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63016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768A"/>
                </a:solidFill>
                <a:latin typeface="Aptos Display"/>
              </a:rPr>
              <a:t>Find the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2331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AA7B7"/>
                </a:solidFill>
                <a:latin typeface="Aptos Display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9189719" y="2011680"/>
            <a:ext cx="960120" cy="960120"/>
          </a:xfrm>
          <a:prstGeom prst="ellipse">
            <a:avLst/>
          </a:prstGeom>
          <a:solidFill>
            <a:srgbClr val="F4A524"/>
          </a:solidFill>
          <a:ln>
            <a:solidFill>
              <a:srgbClr val="F4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235000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246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2033"/>
                </a:solidFill>
                <a:latin typeface="Aptos Display"/>
              </a:rPr>
              <a:t>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363016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768A"/>
                </a:solidFill>
                <a:latin typeface="Aptos Display"/>
              </a:rPr>
              <a:t>Share the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4754880"/>
            <a:ext cx="9784080" cy="868680"/>
          </a:xfrm>
          <a:prstGeom prst="roundRect">
            <a:avLst/>
          </a:prstGeom>
          <a:solidFill>
            <a:srgbClr val="F6F9FA"/>
          </a:solidFill>
          <a:ln>
            <a:solidFill>
              <a:srgbClr val="E2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5029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16B69"/>
                </a:solidFill>
                <a:latin typeface="Aptos Display"/>
              </a:rPr>
              <a:t>The product stays useful because it keeps the user's next decision obvious.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E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583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Built by the Meditalk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0700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E8E3"/>
                </a:solidFill>
                <a:latin typeface="Aptos Display"/>
              </a:rPr>
              <a:t>A focused product for safer, more organized everyday care.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48840"/>
            <a:ext cx="7680960" cy="749808"/>
          </a:xfrm>
          <a:prstGeom prst="roundRect">
            <a:avLst/>
          </a:prstGeom>
          <a:solidFill>
            <a:srgbClr val="164E54"/>
          </a:solidFill>
          <a:ln>
            <a:solidFill>
              <a:srgbClr val="2D6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2313432"/>
            <a:ext cx="411480" cy="411480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2331720"/>
            <a:ext cx="4937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MD SHAKIB AHMED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331720"/>
            <a:ext cx="2331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4E8E3"/>
                </a:solidFill>
                <a:latin typeface="Aptos Display"/>
              </a:rPr>
              <a:t>ID: 0112230862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7680960" cy="749808"/>
          </a:xfrm>
          <a:prstGeom prst="roundRect">
            <a:avLst/>
          </a:prstGeom>
          <a:solidFill>
            <a:srgbClr val="164E54"/>
          </a:solidFill>
          <a:ln>
            <a:solidFill>
              <a:srgbClr val="2D6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3319272"/>
            <a:ext cx="411480" cy="411480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3337560"/>
            <a:ext cx="4937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TAREK RAHMAN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337560"/>
            <a:ext cx="2331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4E8E3"/>
                </a:solidFill>
                <a:latin typeface="Aptos Display"/>
              </a:rPr>
              <a:t>ID: 0000000000000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7680960" cy="749808"/>
          </a:xfrm>
          <a:prstGeom prst="roundRect">
            <a:avLst/>
          </a:prstGeom>
          <a:solidFill>
            <a:srgbClr val="164E54"/>
          </a:solidFill>
          <a:ln>
            <a:solidFill>
              <a:srgbClr val="2D6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4325112"/>
            <a:ext cx="411480" cy="411480"/>
          </a:xfrm>
          <a:prstGeom prst="ellipse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4343400"/>
            <a:ext cx="4937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MAYESHA ISLAM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343400"/>
            <a:ext cx="2331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C4E8E3"/>
                </a:solidFill>
                <a:latin typeface="Aptos Display"/>
              </a:rPr>
              <a:t>ID: 000000000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DF8F3"/>
                </a:solidFill>
                <a:latin typeface="Aptos Display"/>
              </a:rPr>
              <a:t>Meditalk  |  Secure records. Clear reminders. Better conversations.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116B69"/>
                </a:solidFill>
                <a:latin typeface="Aptos Display"/>
              </a:rPr>
              <a:t>A clearer health journey
starts with one small action.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66768A"/>
                </a:solidFill>
                <a:latin typeface="Aptos Display"/>
              </a:rPr>
              <a:t>Remember the dose. Record the moment. Bring the full 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4069080"/>
            <a:ext cx="3886200" cy="658368"/>
          </a:xfrm>
          <a:prstGeom prst="roundRect">
            <a:avLst/>
          </a:prstGeom>
          <a:solidFill>
            <a:srgbClr val="129A90"/>
          </a:solidFill>
          <a:ln>
            <a:solidFill>
              <a:srgbClr val="129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60520" y="4279392"/>
            <a:ext cx="3886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 Display"/>
              </a:rPr>
              <a:t>MEDITALK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6B69"/>
                </a:solidFill>
                <a:latin typeface="Aptos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